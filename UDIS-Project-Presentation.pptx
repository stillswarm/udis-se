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UDIS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0">
                <a:solidFill>
                  <a:srgbClr val="DBE4EE"/>
                </a:solidFill>
                <a:latin typeface="Calibri"/>
              </a:rPr>
              <a:t>University Department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DBE4EE"/>
                </a:solidFill>
                <a:latin typeface="Calibri"/>
              </a:rPr>
              <a:t>Project Presentation  |  Version 1.0  |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DBE4EE"/>
                </a:solidFill>
                <a:latin typeface="Calibri"/>
              </a:rPr>
              <a:t>Team:  Aditya Sharma   |   Aishwary Dixit   |   Vijit Vishnoi   |   Abhinav Kumar Srivastava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1.  Problem Statement and Motivation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2.  SRS Overview and Scope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3.  User Classes and Access Model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4.  Functional Features (F-01 to F-12)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5.  System Architecture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6.  Data Flow Diagrams (Level 0 and Level 1)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7.  Entity Relationship Diagram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8.  Database Schema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9.  Technology Stack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10. Core Business Rules: GPA, CGPA, Prerequisites, Cash Book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11. Security and Audit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12. Project Phases and Roadmap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13. Project Status and Timeline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F2D3D"/>
                </a:solidFill>
                <a:latin typeface="Calibri"/>
              </a:rPr>
              <a:t>•  14.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Problem Statement and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Department offices manage student records, registrations, grades, inventory, finances, and research - often through spreadsheets, registers, and disconnected tools.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Manual processes are slow, error-prone, hard to audit, and do not enforce academic rules such as prerequisites.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Grade sheets and financial summaries require re-computation every time they are requested.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There is no consistent way to enforce who can read or modify which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E2A47"/>
                </a:solidFill>
                <a:latin typeface="Calibri"/>
              </a:rP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Centralize all departmental administrative activities into a single, auditable desktop application.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Automate academic computations (GPA, CGPA), financial totals, and registration validations.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2D3D"/>
                </a:solidFill>
                <a:latin typeface="Calibri"/>
              </a:rPr>
              <a:t>•  Enforce role-based access and record an audit trail of every critical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SRS Overview and Scope</a:t>
            </a:r>
          </a:p>
          <a:p>
            <a:r>
              <a:rPr sz="1200">
                <a:solidFill>
                  <a:srgbClr val="DBE4EE"/>
                </a:solidFill>
              </a:rPr>
              <a:t>SRS v1.0 - Baseline 26 March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Student admission, profile, and update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Semester-wise course registration with prerequisite checks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Grade entry and automatic GPA / CGPA computation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Printable formatted grade sheets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Inventory register with search and disposal marking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Department cash book and financial summaries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Research project and publication tracking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Consolidated student query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Role-based access control and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Out of Scope (current release)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Online self-registration by students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University-wide ERP integration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Multi-department deployment (planned for Phase 4)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Web / mobile client (planned for Phase 4)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Payroll, HR, and attendance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User Classes and Access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28016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0"/>
                <a:gridCol w="2743200"/>
              </a:tblGrid>
              <a:tr h="640080"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User Class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Primary Responsibilities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64008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Department Secretary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Data entry across all operational modules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Full read / 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Head of Department (HOD)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Oversight, review of reports, student queries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Read-only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64008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Faculty / Instructor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Submits grade information; reviews taught courses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Read-only on academics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System Administrator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User management, database backup, audit review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Admin operations and audit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System Modes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206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Normal Operation - all authenticated roles interact per their RBAC permissions.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Read-Only / Reporting - non-secretary roles can run queries and reports without risk of modifying data.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Maintenance - only administrators can sign in; backups and upgrades run without interference.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Functional Features  (F-01 to F-12)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338558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196"/>
                <a:gridCol w="3924886"/>
                <a:gridCol w="6541476"/>
              </a:tblGrid>
              <a:tr h="414996"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Summary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Student Profile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Create, update, search with duplicate-roll-number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Course Catalogue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Credits, semester, prerequisite relationships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Semester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Auto prerequisite validation; back-log flagging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Grade Entry and GPA/CGPA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Automatic per-semester and cumulative computation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Grade Sheet Printing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Formatted HTML transcript, printable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Inventory Register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CRUD, search, filter, mark disposed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Cash Book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Income/expenditure, running balance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F-08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Financial Reporting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Totals and net balance with date-range filter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Research and Publications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Project lifecycle and faculty publications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F-10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Student Information Query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Consolidated read-only 360 view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14996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Role-Based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Module-level permissions per 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008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F-12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Audit Logging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D3D"/>
                          </a:solidFill>
                          <a:latin typeface="Calibri"/>
                        </a:rPr>
                        <a:t>Logins and all data mutations recorded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System Architecture</a:t>
            </a:r>
          </a:p>
          <a:p>
            <a:r>
              <a:rPr sz="1200">
                <a:solidFill>
                  <a:srgbClr val="DBE4EE"/>
                </a:solidFill>
              </a:rPr>
              <a:t>Three-layer desktop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11480"/>
          </a:xfrm>
          <a:prstGeom prst="roundRect">
            <a:avLst/>
          </a:prstGeom>
          <a:solidFill>
            <a:srgbClr val="0E2A47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Presentation Layer  (Swing + FlatLaf)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LoginFrame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2" y="1691640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MainFrame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91640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StudentPanel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691640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CoursePanel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691640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RegistrationPanel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1691640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GradePanel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176272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InventoryPanel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2" y="2176272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FinancePanel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176272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ResearchPanel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76272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QueryPanel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2176272"/>
            <a:ext cx="178308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0">
                <a:solidFill>
                  <a:srgbClr val="1F2D3D"/>
                </a:solidFill>
                <a:latin typeface="Calibri"/>
              </a:rPr>
              <a:t>AuditPanel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17520"/>
            <a:ext cx="10972800" cy="411480"/>
          </a:xfrm>
          <a:prstGeom prst="roundRect">
            <a:avLst/>
          </a:prstGeom>
          <a:solidFill>
            <a:srgbClr val="0E2A47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Services Layer  (business rules, transactions, auth, audit)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20440"/>
            <a:ext cx="2103120" cy="45720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AuthService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520440"/>
            <a:ext cx="2103120" cy="45720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RegistrationService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520440"/>
            <a:ext cx="2103120" cy="45720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GpaService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520440"/>
            <a:ext cx="2103120" cy="45720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CashBookService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3520440"/>
            <a:ext cx="2103120" cy="45720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AuditService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06240"/>
            <a:ext cx="10972800" cy="411480"/>
          </a:xfrm>
          <a:prstGeom prst="roundRect">
            <a:avLst/>
          </a:prstGeom>
          <a:solidFill>
            <a:srgbClr val="0E2A47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Persistence Layer  (plain JDBC)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StudentDao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46504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CourseDao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52928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RegistrationDao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59352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GradeDao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5776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InventoryDao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TransactionDao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8624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ResearchDao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85048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PublicationDao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91472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UserDao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597896" y="4709160"/>
            <a:ext cx="1051560" cy="4114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000" b="0">
                <a:solidFill>
                  <a:srgbClr val="1F2D3D"/>
                </a:solidFill>
                <a:latin typeface="Calibri"/>
              </a:rPr>
              <a:t>AuditDao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532120"/>
            <a:ext cx="5349240" cy="73152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Database singleton</a:t>
            </a:r>
          </a:p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runs schema.sql + seed.sql on first launch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5532120"/>
            <a:ext cx="5349240" cy="731520"/>
          </a:xfrm>
          <a:prstGeom prst="roundRect">
            <a:avLst/>
          </a:prstGeom>
          <a:solidFill>
            <a:srgbClr val="0E2A47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MySQL 8  (persistent store)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5897880"/>
            <a:ext cx="274320" cy="0"/>
          </a:xfrm>
          <a:prstGeom prst="line">
            <a:avLst/>
          </a:prstGeom>
          <a:ln w="25400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Flow Diagram - Level 0 (Context)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103120" cy="10972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Department</a:t>
            </a:r>
          </a:p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Secretary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2103120" cy="10972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HOD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286000"/>
            <a:ext cx="2103120" cy="10972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Faculty /</a:t>
            </a:r>
          </a:p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Instructor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4114800"/>
            <a:ext cx="2103120" cy="109728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System</a:t>
            </a:r>
          </a:p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Administrator</a:t>
            </a:r>
          </a:p>
        </p:txBody>
      </p:sp>
      <p:sp>
        <p:nvSpPr>
          <p:cNvPr id="10" name="Oval 9"/>
          <p:cNvSpPr/>
          <p:nvPr/>
        </p:nvSpPr>
        <p:spPr>
          <a:xfrm>
            <a:off x="4114800" y="2743200"/>
            <a:ext cx="3931920" cy="2011680"/>
          </a:xfrm>
          <a:prstGeom prst="ellipse">
            <a:avLst/>
          </a:prstGeom>
          <a:solidFill>
            <a:srgbClr val="0E2A47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UDIS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University Department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Information System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926080"/>
            <a:ext cx="1371600" cy="3657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743200" y="260604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student + course + finance data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743200" y="3749039"/>
            <a:ext cx="1371600" cy="457201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0" y="379476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confirmations, grade sheets, reports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" y="4389120"/>
            <a:ext cx="1554480" cy="2743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0" y="480060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report and query requests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43200" y="4023360"/>
            <a:ext cx="1554480" cy="8229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43200" y="512064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financial and academic reports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046720" y="2834640"/>
            <a:ext cx="1371600" cy="45720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0" y="260604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grade submissions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046720" y="3108960"/>
            <a:ext cx="1371600" cy="54864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0" y="3749039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course / grade view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8046720" y="4389120"/>
            <a:ext cx="1371600" cy="2743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0" y="480060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backup / maintenance commands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46720" y="4023360"/>
            <a:ext cx="1371600" cy="8229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0" y="5120640"/>
            <a:ext cx="29260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B7A8F"/>
                </a:solidFill>
                <a:latin typeface="Calibri"/>
              </a:rPr>
              <a:t>audit and system 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Flow Diagram - Level 1 (Decomposition)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1645920" cy="100584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Secretary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1280160"/>
            <a:ext cx="1828800" cy="914400"/>
          </a:xfrm>
          <a:prstGeom prst="ellipse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1.0 Manage</a:t>
            </a:r>
          </a:p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Students</a:t>
            </a:r>
          </a:p>
        </p:txBody>
      </p:sp>
      <p:sp>
        <p:nvSpPr>
          <p:cNvPr id="8" name="Oval 7"/>
          <p:cNvSpPr/>
          <p:nvPr/>
        </p:nvSpPr>
        <p:spPr>
          <a:xfrm>
            <a:off x="2560320" y="2377440"/>
            <a:ext cx="1828800" cy="914400"/>
          </a:xfrm>
          <a:prstGeom prst="ellipse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2.0 Register</a:t>
            </a:r>
          </a:p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Courses</a:t>
            </a:r>
          </a:p>
        </p:txBody>
      </p:sp>
      <p:sp>
        <p:nvSpPr>
          <p:cNvPr id="9" name="Oval 8"/>
          <p:cNvSpPr/>
          <p:nvPr/>
        </p:nvSpPr>
        <p:spPr>
          <a:xfrm>
            <a:off x="2560320" y="3474720"/>
            <a:ext cx="1828800" cy="914400"/>
          </a:xfrm>
          <a:prstGeom prst="ellipse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3.0 Enter</a:t>
            </a:r>
          </a:p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Grades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4572000"/>
            <a:ext cx="1828800" cy="914400"/>
          </a:xfrm>
          <a:prstGeom prst="ellipse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4.0 Manage</a:t>
            </a:r>
          </a:p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Inventory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5669280"/>
            <a:ext cx="1828800" cy="914400"/>
          </a:xfrm>
          <a:prstGeom prst="ellipse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5.0 Manage</a:t>
            </a:r>
          </a:p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Finance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280160"/>
            <a:ext cx="2194560" cy="640080"/>
          </a:xfrm>
          <a:prstGeom prst="rect">
            <a:avLst/>
          </a:prstGeom>
          <a:solidFill>
            <a:srgbClr val="E8EEF4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D1  Student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2194560"/>
            <a:ext cx="2194560" cy="640080"/>
          </a:xfrm>
          <a:prstGeom prst="rect">
            <a:avLst/>
          </a:prstGeom>
          <a:solidFill>
            <a:srgbClr val="E8EEF4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D2  Course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108960"/>
            <a:ext cx="2194560" cy="640080"/>
          </a:xfrm>
          <a:prstGeom prst="rect">
            <a:avLst/>
          </a:prstGeom>
          <a:solidFill>
            <a:srgbClr val="E8EEF4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D3  Registration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4023360"/>
            <a:ext cx="2194560" cy="640080"/>
          </a:xfrm>
          <a:prstGeom prst="rect">
            <a:avLst/>
          </a:prstGeom>
          <a:solidFill>
            <a:srgbClr val="E8EEF4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D4  Grade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4937760"/>
            <a:ext cx="2194560" cy="640080"/>
          </a:xfrm>
          <a:prstGeom prst="rect">
            <a:avLst/>
          </a:prstGeom>
          <a:solidFill>
            <a:srgbClr val="E8EEF4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D5  Inventory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5852160"/>
            <a:ext cx="2194560" cy="640080"/>
          </a:xfrm>
          <a:prstGeom prst="rect">
            <a:avLst/>
          </a:prstGeom>
          <a:solidFill>
            <a:srgbClr val="E8EEF4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D6  Transaction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2377440"/>
            <a:ext cx="2377440" cy="640080"/>
          </a:xfrm>
          <a:prstGeom prst="rect">
            <a:avLst/>
          </a:prstGeom>
          <a:solidFill>
            <a:srgbClr val="E8EEF4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100" b="1">
                <a:solidFill>
                  <a:srgbClr val="1F2D3D"/>
                </a:solidFill>
                <a:latin typeface="Calibri"/>
              </a:rPr>
              <a:t>D9  Audit Log</a:t>
            </a:r>
          </a:p>
        </p:txBody>
      </p:sp>
      <p:sp>
        <p:nvSpPr>
          <p:cNvPr id="19" name="Oval 18"/>
          <p:cNvSpPr/>
          <p:nvPr/>
        </p:nvSpPr>
        <p:spPr>
          <a:xfrm>
            <a:off x="8961120" y="3840480"/>
            <a:ext cx="2560320" cy="1097280"/>
          </a:xfrm>
          <a:prstGeom prst="ellipse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6.0 Reporting</a:t>
            </a:r>
          </a:p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and Query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5303520"/>
            <a:ext cx="2377440" cy="822960"/>
          </a:xfrm>
          <a:prstGeom prst="roundRect">
            <a:avLst/>
          </a:prstGeom>
          <a:solidFill>
            <a:srgbClr val="E8EEF4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HOD / Secretary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03120" y="1737360"/>
            <a:ext cx="457200" cy="169164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103120" y="2834640"/>
            <a:ext cx="457200" cy="5943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03120" y="3429000"/>
            <a:ext cx="457200" cy="5029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103120" y="3429000"/>
            <a:ext cx="457200" cy="160020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03120" y="3429000"/>
            <a:ext cx="457200" cy="269748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89120" y="1600200"/>
            <a:ext cx="1097280" cy="1371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4389120" y="2514600"/>
            <a:ext cx="1097280" cy="32004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89120" y="2834640"/>
            <a:ext cx="1097280" cy="5943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389120" y="3931920"/>
            <a:ext cx="1097280" cy="41148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389120" y="5029200"/>
            <a:ext cx="1097280" cy="22860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389120" y="6126480"/>
            <a:ext cx="1097280" cy="457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389120" y="1463040"/>
            <a:ext cx="4754880" cy="114300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89120" y="2560320"/>
            <a:ext cx="4754880" cy="457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389120" y="2606040"/>
            <a:ext cx="4754880" cy="10515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389120" y="2606040"/>
            <a:ext cx="4754880" cy="214884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389120" y="2606040"/>
            <a:ext cx="4754880" cy="32461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80960" y="1600200"/>
            <a:ext cx="1280160" cy="27889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680960" y="2514600"/>
            <a:ext cx="1280160" cy="18745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80960" y="3429000"/>
            <a:ext cx="1280160" cy="9601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680960" y="4343400"/>
            <a:ext cx="1280160" cy="4572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680960" y="4389120"/>
            <a:ext cx="1280160" cy="86868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680960" y="4389120"/>
            <a:ext cx="1280160" cy="178308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424160" y="4937760"/>
            <a:ext cx="0" cy="365760"/>
          </a:xfrm>
          <a:prstGeom prst="line">
            <a:avLst/>
          </a:prstGeom>
          <a:ln w="15875">
            <a:solidFill>
              <a:srgbClr val="2B6CB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Entity Relationship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19456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17904"/>
            <a:ext cx="219456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roll_no</a:t>
            </a:r>
          </a:p>
          <a:p>
            <a:r>
              <a:rPr sz="900">
                <a:solidFill>
                  <a:srgbClr val="1F2D3D"/>
                </a:solidFill>
              </a:rPr>
              <a:t>name</a:t>
            </a:r>
          </a:p>
          <a:p>
            <a:r>
              <a:rPr sz="900">
                <a:solidFill>
                  <a:srgbClr val="1F2D3D"/>
                </a:solidFill>
              </a:rPr>
              <a:t>dob, gender</a:t>
            </a:r>
          </a:p>
          <a:p>
            <a:r>
              <a:rPr sz="900">
                <a:solidFill>
                  <a:srgbClr val="1F2D3D"/>
                </a:solidFill>
              </a:rPr>
              <a:t>program, batch</a:t>
            </a:r>
          </a:p>
          <a:p>
            <a:r>
              <a:rPr sz="900">
                <a:solidFill>
                  <a:srgbClr val="1F2D3D"/>
                </a:solidFill>
              </a:rPr>
              <a:t>address, contact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219456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46704"/>
            <a:ext cx="219456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course_id</a:t>
            </a:r>
          </a:p>
          <a:p>
            <a:r>
              <a:rPr sz="900">
                <a:solidFill>
                  <a:srgbClr val="1F2D3D"/>
                </a:solidFill>
              </a:rPr>
              <a:t>course_name</a:t>
            </a:r>
          </a:p>
          <a:p>
            <a:r>
              <a:rPr sz="900">
                <a:solidFill>
                  <a:srgbClr val="1F2D3D"/>
                </a:solidFill>
              </a:rPr>
              <a:t>credits, semester</a:t>
            </a:r>
          </a:p>
          <a:p>
            <a:r>
              <a:rPr sz="900">
                <a:solidFill>
                  <a:srgbClr val="1F2D3D"/>
                </a:solidFill>
              </a:rPr>
              <a:t>FK prerequisite_id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219456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REGISTRATION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517904"/>
            <a:ext cx="219456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reg_id</a:t>
            </a:r>
          </a:p>
          <a:p>
            <a:r>
              <a:rPr sz="900">
                <a:solidFill>
                  <a:srgbClr val="1F2D3D"/>
                </a:solidFill>
              </a:rPr>
              <a:t>FK roll_no</a:t>
            </a:r>
          </a:p>
          <a:p>
            <a:r>
              <a:rPr sz="900">
                <a:solidFill>
                  <a:srgbClr val="1F2D3D"/>
                </a:solidFill>
              </a:rPr>
              <a:t>FK course_id</a:t>
            </a:r>
          </a:p>
          <a:p>
            <a:r>
              <a:rPr sz="900">
                <a:solidFill>
                  <a:srgbClr val="1F2D3D"/>
                </a:solidFill>
              </a:rPr>
              <a:t>semester, year</a:t>
            </a:r>
          </a:p>
          <a:p>
            <a:r>
              <a:rPr sz="900">
                <a:solidFill>
                  <a:srgbClr val="1F2D3D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3017520"/>
            <a:ext cx="219456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346704"/>
            <a:ext cx="219456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grade_id</a:t>
            </a:r>
          </a:p>
          <a:p>
            <a:r>
              <a:rPr sz="900">
                <a:solidFill>
                  <a:srgbClr val="1F2D3D"/>
                </a:solidFill>
              </a:rPr>
              <a:t>FK roll_no</a:t>
            </a:r>
          </a:p>
          <a:p>
            <a:r>
              <a:rPr sz="900">
                <a:solidFill>
                  <a:srgbClr val="1F2D3D"/>
                </a:solidFill>
              </a:rPr>
              <a:t>FK course_id</a:t>
            </a:r>
          </a:p>
          <a:p>
            <a:r>
              <a:rPr sz="900">
                <a:solidFill>
                  <a:srgbClr val="1F2D3D"/>
                </a:solidFill>
              </a:rPr>
              <a:t>letter_grade</a:t>
            </a:r>
          </a:p>
          <a:p>
            <a:r>
              <a:rPr sz="900">
                <a:solidFill>
                  <a:srgbClr val="1F2D3D"/>
                </a:solidFill>
              </a:rPr>
              <a:t>grade_points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188720"/>
            <a:ext cx="201168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INVENTORY_ITEM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517904"/>
            <a:ext cx="2011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item_id</a:t>
            </a:r>
          </a:p>
          <a:p>
            <a:r>
              <a:rPr sz="900">
                <a:solidFill>
                  <a:srgbClr val="1F2D3D"/>
                </a:solidFill>
              </a:rPr>
              <a:t>name, category</a:t>
            </a:r>
          </a:p>
          <a:p>
            <a:r>
              <a:rPr sz="900">
                <a:solidFill>
                  <a:srgbClr val="1F2D3D"/>
                </a:solidFill>
              </a:rPr>
              <a:t>serial_number</a:t>
            </a:r>
          </a:p>
          <a:p>
            <a:r>
              <a:rPr sz="900">
                <a:solidFill>
                  <a:srgbClr val="1F2D3D"/>
                </a:solidFill>
              </a:rPr>
              <a:t>location</a:t>
            </a:r>
          </a:p>
          <a:p>
            <a:r>
              <a:rPr sz="900">
                <a:solidFill>
                  <a:srgbClr val="1F2D3D"/>
                </a:solidFill>
              </a:rPr>
              <a:t>condition_status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017520"/>
            <a:ext cx="201168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TXN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346704"/>
            <a:ext cx="201168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txn_id</a:t>
            </a:r>
          </a:p>
          <a:p>
            <a:r>
              <a:rPr sz="900">
                <a:solidFill>
                  <a:srgbClr val="1F2D3D"/>
                </a:solidFill>
              </a:rPr>
              <a:t>txn_date</a:t>
            </a:r>
          </a:p>
          <a:p>
            <a:r>
              <a:rPr sz="900">
                <a:solidFill>
                  <a:srgbClr val="1F2D3D"/>
                </a:solidFill>
              </a:rPr>
              <a:t>description</a:t>
            </a:r>
          </a:p>
          <a:p>
            <a:r>
              <a:rPr sz="900">
                <a:solidFill>
                  <a:srgbClr val="1F2D3D"/>
                </a:solidFill>
              </a:rPr>
              <a:t>category</a:t>
            </a:r>
          </a:p>
          <a:p>
            <a:r>
              <a:rPr sz="900">
                <a:solidFill>
                  <a:srgbClr val="1F2D3D"/>
                </a:solidFill>
              </a:rPr>
              <a:t>amount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66960" y="1188720"/>
            <a:ext cx="182880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RESEARCH_PROJECT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1517904"/>
            <a:ext cx="182880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project_id</a:t>
            </a:r>
          </a:p>
          <a:p>
            <a:r>
              <a:rPr sz="900">
                <a:solidFill>
                  <a:srgbClr val="1F2D3D"/>
                </a:solidFill>
              </a:rPr>
              <a:t>title, PI</a:t>
            </a:r>
          </a:p>
          <a:p>
            <a:r>
              <a:rPr sz="900">
                <a:solidFill>
                  <a:srgbClr val="1F2D3D"/>
                </a:solidFill>
              </a:rPr>
              <a:t>funding_source</a:t>
            </a:r>
          </a:p>
          <a:p>
            <a:r>
              <a:rPr sz="900">
                <a:solidFill>
                  <a:srgbClr val="1F2D3D"/>
                </a:solidFill>
              </a:rPr>
              <a:t>start/end</a:t>
            </a:r>
          </a:p>
          <a:p>
            <a:r>
              <a:rPr sz="900">
                <a:solidFill>
                  <a:srgbClr val="1F2D3D"/>
                </a:solidFill>
              </a:rPr>
              <a:t>status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3017520"/>
            <a:ext cx="182880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PUBLICATION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3346704"/>
            <a:ext cx="182880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pub_id</a:t>
            </a:r>
          </a:p>
          <a:p>
            <a:r>
              <a:rPr sz="900">
                <a:solidFill>
                  <a:srgbClr val="1F2D3D"/>
                </a:solidFill>
              </a:rPr>
              <a:t>title, authors</a:t>
            </a:r>
          </a:p>
          <a:p>
            <a:r>
              <a:rPr sz="900">
                <a:solidFill>
                  <a:srgbClr val="1F2D3D"/>
                </a:solidFill>
              </a:rPr>
              <a:t>journal, year</a:t>
            </a:r>
          </a:p>
          <a:p>
            <a:r>
              <a:rPr sz="900">
                <a:solidFill>
                  <a:srgbClr val="1F2D3D"/>
                </a:solidFill>
              </a:rPr>
              <a:t>doi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219456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APP_USER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175504"/>
            <a:ext cx="219456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user_id</a:t>
            </a:r>
          </a:p>
          <a:p>
            <a:r>
              <a:rPr sz="900">
                <a:solidFill>
                  <a:srgbClr val="1F2D3D"/>
                </a:solidFill>
              </a:rPr>
              <a:t>username</a:t>
            </a:r>
          </a:p>
          <a:p>
            <a:r>
              <a:rPr sz="900">
                <a:solidFill>
                  <a:srgbClr val="1F2D3D"/>
                </a:solidFill>
              </a:rPr>
              <a:t>password_hash</a:t>
            </a:r>
          </a:p>
          <a:p>
            <a:r>
              <a:rPr sz="900">
                <a:solidFill>
                  <a:srgbClr val="1F2D3D"/>
                </a:solidFill>
              </a:rPr>
              <a:t>role, full_name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4846320"/>
            <a:ext cx="2194560" cy="329184"/>
          </a:xfrm>
          <a:prstGeom prst="rect">
            <a:avLst/>
          </a:prstGeom>
          <a:solidFill>
            <a:srgbClr val="0E2A47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tIns="18288" bIns="18288" wrap="square"/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AUDIT_LOG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5175504"/>
            <a:ext cx="2194560" cy="1133856"/>
          </a:xfrm>
          <a:prstGeom prst="rect">
            <a:avLst/>
          </a:prstGeom>
          <a:solidFill>
            <a:srgbClr val="FFFFFF"/>
          </a:solidFill>
          <a:ln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45720" wrap="square"/>
          <a:lstStyle/>
          <a:p>
            <a:pPr algn="ctr"/>
            <a:r>
              <a:rPr sz="900">
                <a:solidFill>
                  <a:srgbClr val="1F2D3D"/>
                </a:solidFill>
              </a:rPr>
              <a:t>PK id</a:t>
            </a:r>
          </a:p>
          <a:p>
            <a:r>
              <a:rPr sz="900">
                <a:solidFill>
                  <a:srgbClr val="1F2D3D"/>
                </a:solidFill>
              </a:rPr>
              <a:t>username</a:t>
            </a:r>
          </a:p>
          <a:p>
            <a:r>
              <a:rPr sz="900">
                <a:solidFill>
                  <a:srgbClr val="1F2D3D"/>
                </a:solidFill>
              </a:rPr>
              <a:t>action, entity</a:t>
            </a:r>
          </a:p>
          <a:p>
            <a:r>
              <a:rPr sz="900">
                <a:solidFill>
                  <a:srgbClr val="1F2D3D"/>
                </a:solidFill>
              </a:rPr>
              <a:t>at_time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51760" y="1828800"/>
            <a:ext cx="1554480" cy="0"/>
          </a:xfrm>
          <a:prstGeom prst="line">
            <a:avLst/>
          </a:prstGeom>
          <a:ln w="1524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651760" y="2103120"/>
            <a:ext cx="1554480" cy="1554480"/>
          </a:xfrm>
          <a:prstGeom prst="line">
            <a:avLst/>
          </a:prstGeom>
          <a:ln w="1524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51760" y="2103120"/>
            <a:ext cx="1554480" cy="1554480"/>
          </a:xfrm>
          <a:prstGeom prst="line">
            <a:avLst/>
          </a:prstGeom>
          <a:ln w="1524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651760" y="3749039"/>
            <a:ext cx="1554480" cy="0"/>
          </a:xfrm>
          <a:prstGeom prst="line">
            <a:avLst/>
          </a:prstGeom>
          <a:ln w="1524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54480" y="4480560"/>
            <a:ext cx="0" cy="365760"/>
          </a:xfrm>
          <a:prstGeom prst="line">
            <a:avLst/>
          </a:prstGeom>
          <a:ln w="1524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651760" y="4846320"/>
            <a:ext cx="1554480" cy="274320"/>
          </a:xfrm>
          <a:prstGeom prst="line">
            <a:avLst/>
          </a:prstGeom>
          <a:ln w="15240">
            <a:solidFill>
              <a:srgbClr val="0E2A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Database Schema  (maps 1:1 to SRS Section 3.4)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338559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492"/>
                <a:gridCol w="2442151"/>
                <a:gridCol w="6715916"/>
              </a:tblGrid>
              <a:tr h="473825"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Primary Key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Attributes and Foreign Keys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roll_no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name, dob, gender, address, contact, program,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course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course_id (PK)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course_name, credits, semester, prerequisite_id (FK → course)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reg_id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roll_no (FK), course_id (FK), semester, year,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grade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grade_id (PK)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roll_no (FK), course_id (FK), semester, year, letter_grade, grade_points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inventory_item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item_id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name, category, serial_number, location, acquisition_date, condition_status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txn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txn_id (PK)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txn_date, description, category (INCOME / EXPENDITURE), amount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research_project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project_id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title, PI, funding_source, start_date, end_date,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publication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pub_id (PK)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title, authors, journal, year, doi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73825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app_user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user_id (PK)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username, password_hash, role, full_name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383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audit_log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id (PK)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D3D"/>
                          </a:solidFill>
                          <a:latin typeface="Calibri"/>
                        </a:rPr>
                        <a:t>username, action, entity, at_time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280160"/>
          <a:ext cx="10058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7543800"/>
              </a:tblGrid>
              <a:tr h="432261"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Concern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Java 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UI Framework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Swing with FlatLaf 3.4 look-and-feel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MySQL 8 (InnoDB, referential integrity)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Persistence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Plain JDBC via mysql-connector-j 8.4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Password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jBCrypt 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Build Tool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Apache Maven 3.8+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Packaging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maven-shade-plugin (runnable fat JAR)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Backup Utility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mysqldump (invoked from the application)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2261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Target Hardware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Desktop / laptop, &gt;= 4 GB RAM, Core i3 class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7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Target OS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D3D"/>
                          </a:solidFill>
                          <a:latin typeface="Calibri"/>
                        </a:rPr>
                        <a:t>Windows 10/11, macOS, major Linux distributions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Core Business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GPA / CGPA Computation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486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GPA and CGPA follow the standard credit-weighted average: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5486400" cy="91440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GPA = Σ (grade_points_i × credits_i)  /  Σ credits_i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Semester GPA computes over grades for one (semester, year).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CGPA computes over all grade records for the student.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Letter scale (A = 10, A- = 9, B+ = 8.5, ... , F = 0) is centralized in GpaService.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Grades of F automatically mark the registration as BACKLOG.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097280"/>
            <a:ext cx="51206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Prerequisite and Finance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Registration is rejected if the prerequisite course is not marked COMPLETED.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A student cannot be registered twice for the same course in the same (semester, year).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Duplicate roll numbers and course IDs are rejected at insert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840480"/>
            <a:ext cx="5120640" cy="914400"/>
          </a:xfrm>
          <a:prstGeom prst="roundRect">
            <a:avLst/>
          </a:prstGeom>
          <a:solidFill>
            <a:srgbClr val="DBE4EE"/>
          </a:solidFill>
          <a:ln w="127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400" b="1">
                <a:solidFill>
                  <a:srgbClr val="1F2D3D"/>
                </a:solidFill>
                <a:latin typeface="Calibri"/>
              </a:rPr>
              <a:t>Balance = Σ Income  -  Σ Expenditure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377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Running balance updates after every transaction.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Financial summary supports date-range filtering.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2D3D"/>
                </a:solidFill>
                <a:latin typeface="Calibri"/>
              </a:rPr>
              <a:t>•  All totals are computed directly in SQL for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Security and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Authentication and Authorization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Passwords are stored as BCrypt hashes; plaintext is never persisted.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Every module checks AuthService.canAccess(module) and canWrite(module) before rendering.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Write buttons (Add / Update / Delete) are disabled for read-only roles at the UI layer.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Maintenance Mode (config flag) restricts logins to administrators during backups or upgrades.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Every login attempt (success, failure, maintenance-denied) is logged.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Every insert / update / delete across modules writes an entry to the audit_log table.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Queries that generate reports are audited to support later review.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Administrators access the audit log via a dedicated, read-only panel.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Phases and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97280"/>
          <a:ext cx="1133855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154"/>
                <a:gridCol w="6555105"/>
                <a:gridCol w="1683067"/>
                <a:gridCol w="1860232"/>
              </a:tblGrid>
              <a:tr h="365760"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Effort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36576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Phase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Requirements and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1 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Phase 1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MVP Implementation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2 weeks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6576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Hardening and UX Polish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1.5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Phase 3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SRS Compliance Uplift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2 weeks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36576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Phase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Scale-out and Extension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3-4 weeks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Stretch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Phase 2 Work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Date-picker controls and inline validation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HikariCP connection pooling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Transactional grade entry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JUnit 5 tests for service layer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Keyboard shortcuts, app icon, splash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56616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Phase 3 and 4 Highlights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9319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Automated daily backups and runtime maintenance mode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Configurable grade scheme and admin user management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Field-level audit diffs and PDF / CSV exports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Multi-department support with department_id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D3D"/>
                </a:solidFill>
                <a:latin typeface="Calibri"/>
              </a:rPr>
              <a:t>•  Migration to Spring Boot + JPA and web front-end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Status and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188720"/>
          <a:ext cx="1033271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6029"/>
                <a:gridCol w="2818014"/>
                <a:gridCol w="1878676"/>
              </a:tblGrid>
              <a:tr h="434340"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 lIns="73152" rIns="45720"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3434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SRS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26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Architecture Finalized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01 Apr 2026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434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Schema and Seed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05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Authentication and RBAC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08 Apr 2026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434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All 12 Modules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20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MVP v1.0 Release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22 Apr 2026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Completed</a:t>
                      </a:r>
                    </a:p>
                  </a:txBody>
                  <a:tcPr>
                    <a:solidFill>
                      <a:srgbClr val="E8EEF4"/>
                    </a:solidFill>
                  </a:tcPr>
                </a:tc>
              </a:tr>
              <a:tr h="434340"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Phase 2 Kickoff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Upcoming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D3D"/>
                          </a:solidFill>
                          <a:latin typeface="Calibri"/>
                        </a:rPr>
                        <a:t>Planned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029200"/>
            <a:ext cx="10332720" cy="1005840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MVP v1.0  -  All twelve SRS features delivered and verified on 22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 and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•  UDIS v1.0 delivers all twelve SRS features (F-01 to F-12) in a single, cohesive desktop application.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•  Every module is backed by a clean three-layer architecture and a referentially consistent MySQL schema.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•  Role-based access and an append-only audit trail make the system safe for multi-user departmental use.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F2D3D"/>
                </a:solidFill>
                <a:latin typeface="Calibri"/>
              </a:rPr>
              <a:t>•  Centralized business rules (GPA / CGPA, prerequisites, cash balance) eliminate manual computation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972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Immediate Next Steps (Phase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Stabilize the MVP with automated tests and a proper connection pool.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Improve operator ergonomics through date pickers, inline validation, and keyboard shortcuts.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D3D"/>
                </a:solidFill>
                <a:latin typeface="Calibri"/>
              </a:rPr>
              <a:t>•  Prepare the schema and services for the SRS-compliance uplift in Phase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11643055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6B7A8F"/>
                </a:solidFill>
                <a:latin typeface="Calibri"/>
              </a:rPr>
              <a:t>UDIS  |  University Department Information System  |  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DBE4EE"/>
                </a:solidFill>
                <a:latin typeface="Calibri"/>
              </a:rPr>
              <a:t>University Department Information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DBE4EE"/>
                </a:solidFill>
                <a:latin typeface="Calibri"/>
              </a:rPr>
              <a:t>Questions and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